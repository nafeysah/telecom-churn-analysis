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2F6F62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A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Month-to-month</c:v>
                  </c:pt>
                  <c:pt idx="1">
                    <c:v>One year</c:v>
                  </c:pt>
                  <c:pt idx="2">
                    <c:v>Two year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49.3</c:v>
                </c:pt>
                <c:pt idx="1">
                  <c:v>19.9</c:v>
                </c:pt>
                <c:pt idx="2">
                  <c:v>21.8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71A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4F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AED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15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TELECOMS CHURN ANALYSIS</a:t>
            </a:r>
            <a:endParaRPr lang="en-US" sz="12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640080" y="2377440"/>
            <a:ext cx="108813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rgbClr val="17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640080" y="3931920"/>
            <a:ext cx="9601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4B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640080" y="3886200"/>
            <a:ext cx="2011680" cy="0"/>
          </a:xfrm>
          <a:prstGeom prst="line">
            <a:avLst/>
          </a:prstGeom>
          <a:noFill/>
          <a:ln w="31750">
            <a:solidFill>
              <a:srgbClr val="B97F2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E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AEDE8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256032"/>
            <a:ext cx="10515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7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0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50" kern="0" dirty="0">
                <a:solidFill>
                  <a:srgbClr val="215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5" name="Shape 1"/>
          <p:cNvSpPr/>
          <p:nvPr/>
        </p:nvSpPr>
        <p:spPr>
          <a:xfrm>
            <a:off x="640080" y="1051560"/>
            <a:ext cx="10908792" cy="0"/>
          </a:xfrm>
          <a:prstGeom prst="line">
            <a:avLst/>
          </a:prstGeom>
          <a:noFill/>
          <a:ln w="12700">
            <a:solidFill>
              <a:srgbClr val="D6D9D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E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E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237744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7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Telecoms Customer Churn Analysis</a:t>
            </a:r>
            <a:endParaRPr lang="en-US" sz="40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640080" y="3931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B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customers to leave, and what the data says to do about it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Bolanle Bolarinwa  •  Data Analyst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E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40080" y="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15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2560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Question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 are most likely to churn, and which factors — contract type, pricing, service type, or tenure — actually drive that risk?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54864" cy="914400"/>
          </a:xfrm>
          <a:prstGeom prst="rect">
            <a:avLst/>
          </a:prstGeom>
          <a:solidFill>
            <a:srgbClr val="2F6F6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50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36392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a customer costs far more than keeping one. Knowing who is at risk, and why, lets a business act before the customer leaves, not after.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54864" cy="914400"/>
          </a:xfrm>
          <a:prstGeom prst="rect">
            <a:avLst/>
          </a:prstGeom>
          <a:solidFill>
            <a:srgbClr val="2F6F6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50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279392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5,960 customer records, covering contract type, monthly charges, tenure, internet service, region, and payment method.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5120640"/>
            <a:ext cx="54864" cy="914400"/>
          </a:xfrm>
          <a:prstGeom prst="rect">
            <a:avLst/>
          </a:prstGeom>
          <a:solidFill>
            <a:srgbClr val="2F6F6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5074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50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422392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 signup and billing data into a short list of concrete, fixable churn drivers.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E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40080" y="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15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2560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&amp; 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606040" cy="4206240"/>
          </a:xfrm>
          <a:prstGeom prst="rect">
            <a:avLst/>
          </a:prstGeom>
          <a:solidFill>
            <a:srgbClr val="EAEDE8"/>
          </a:solidFill>
          <a:ln w="12700">
            <a:solidFill>
              <a:srgbClr val="D6D9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6002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7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148840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in SQL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788920"/>
            <a:ext cx="220370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duplicates, standardized inconsistent Yes/No formatting, fixed mixed date formats, and corrected blank billing values.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0712" y="1417320"/>
            <a:ext cx="2606040" cy="4206240"/>
          </a:xfrm>
          <a:prstGeom prst="rect">
            <a:avLst/>
          </a:prstGeom>
          <a:solidFill>
            <a:srgbClr val="EAEDE8"/>
          </a:solidFill>
          <a:ln w="12700">
            <a:solidFill>
              <a:srgbClr val="D6D9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16002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7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148840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in Power BI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788920"/>
            <a:ext cx="220370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churn-rate measures using CALCULATE and DIVIDE, then grouped tenure and pricing into readable bands with SWITCH.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81344" y="1417320"/>
            <a:ext cx="2606040" cy="4206240"/>
          </a:xfrm>
          <a:prstGeom prst="rect">
            <a:avLst/>
          </a:prstGeom>
          <a:solidFill>
            <a:srgbClr val="EAEDE8"/>
          </a:solidFill>
          <a:ln w="12700">
            <a:solidFill>
              <a:srgbClr val="D6D9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2512" y="16002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7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382512" y="2148840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Visualize &amp; compare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82512" y="2788920"/>
            <a:ext cx="220370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charts, each isolating one factor against churn rate, so each driver can be judged on its own.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51976" y="1417320"/>
            <a:ext cx="2606040" cy="4206240"/>
          </a:xfrm>
          <a:prstGeom prst="rect">
            <a:avLst/>
          </a:prstGeom>
          <a:solidFill>
            <a:srgbClr val="EAEDE8"/>
          </a:solidFill>
          <a:ln w="12700">
            <a:solidFill>
              <a:srgbClr val="D6D9D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53144" y="16002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7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153144" y="2148840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 the story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153144" y="2788920"/>
            <a:ext cx="220370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 every chart's numbers against the SQL output before trusting a finding.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5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MySQL  •  Power BI  •  DAX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E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40080" y="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15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FINDING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2560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Churn Rate by Contract Type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41732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09560" y="1600200"/>
            <a:ext cx="3611880" cy="3840480"/>
          </a:xfrm>
          <a:prstGeom prst="rect">
            <a:avLst/>
          </a:prstGeom>
          <a:solidFill>
            <a:srgbClr val="EAEDE8"/>
          </a:solidFill>
          <a:ln w="12700">
            <a:solidFill>
              <a:srgbClr val="D6D9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3816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2286000"/>
            <a:ext cx="3200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churn at nearly 2.5x the rate of customers on a one or two-year plan. This is the single clearest lever in the data, moving customers onto longer contracts is the fastest path to lowering overall churn.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E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40080" y="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15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2560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Other Key Findings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9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3520440" cy="73152"/>
          </a:xfrm>
          <a:prstGeom prst="rect">
            <a:avLst/>
          </a:prstGeom>
          <a:solidFill>
            <a:srgbClr val="2F6F6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6002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50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51%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7744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 their first 6 months churn more than any other tenure group.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25112" y="1417320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9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25112" y="1417320"/>
            <a:ext cx="3520440" cy="73152"/>
          </a:xfrm>
          <a:prstGeom prst="rect">
            <a:avLst/>
          </a:prstGeom>
          <a:solidFill>
            <a:srgbClr val="2F6F6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53712" y="16002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50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43%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37744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customers churn more than DSL or no-internet customers.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10144" y="1417320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9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10144" y="1417320"/>
            <a:ext cx="3520440" cy="73152"/>
          </a:xfrm>
          <a:prstGeom prst="rect">
            <a:avLst/>
          </a:prstGeom>
          <a:solidFill>
            <a:srgbClr val="2F6F6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38744" y="16002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50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 to 2x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8238744" y="237744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rises steadily with price — the over-$95 band churns almost double the lowest band.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10908792" cy="1737360"/>
          </a:xfrm>
          <a:prstGeom prst="rect">
            <a:avLst/>
          </a:prstGeom>
          <a:solidFill>
            <a:srgbClr val="EAEDE8"/>
          </a:solidFill>
          <a:ln w="12700">
            <a:solidFill>
              <a:srgbClr val="D6D9D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069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didn't matter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4348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and payment method showed no meaningful difference in churn rate. Knowing what isn't a driver is as useful as knowing what is — it keeps the business from spending effort on factors that won't move the needle.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E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40080" y="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15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2560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35608"/>
            <a:ext cx="329184" cy="329184"/>
          </a:xfrm>
          <a:prstGeom prst="ellipse">
            <a:avLst/>
          </a:prstGeom>
          <a:solidFill>
            <a:srgbClr val="2F6F6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356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38988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Incentivize longer contracts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73736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discount or added perk for customers switching from month-to-month to a one-year plan — the single biggest churn gap in the data.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32888"/>
            <a:ext cx="329184" cy="329184"/>
          </a:xfrm>
          <a:prstGeom prst="ellipse">
            <a:avLst/>
          </a:prstGeom>
          <a:solidFill>
            <a:srgbClr val="2F6F6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328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48716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Strengthen onboarding in month 1-6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83464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structured check-in or support touchpoint in the first 6 months, when churn risk is highest.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630168"/>
            <a:ext cx="329184" cy="329184"/>
          </a:xfrm>
          <a:prstGeom prst="ellipse">
            <a:avLst/>
          </a:prstGeom>
          <a:solidFill>
            <a:srgbClr val="2F6F6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6301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58444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fiber optic pricing and service quality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93192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why fiber customers churn more than DSL — likely a price or reliability issue worth a closer look.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727448"/>
            <a:ext cx="329184" cy="329184"/>
          </a:xfrm>
          <a:prstGeom prst="ellipse">
            <a:avLst/>
          </a:prstGeom>
          <a:solidFill>
            <a:srgbClr val="2F6F6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727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68172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Reassess high-tier pricing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502920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paying over $95/month churn at nearly double the rate of the lowest band — review whether this tier delivers proportionate value.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E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237744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7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640080" y="3931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B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project — data, SQL script, and dashboard — available on GitHub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github.com/nafeysah  •  bolanlebolarinwa2@gmail.com  •  linkedin.com/in/bolanle-bolarinwa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E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urnAnalysis">
  <a:themeElements>
    <a:clrScheme name="ChurnAnalysis">
      <a:dk1>
        <a:srgbClr val="171A1F"/>
      </a:dk1>
      <a:lt1>
        <a:srgbClr val="FFFFFF"/>
      </a:lt1>
      <a:dk2>
        <a:srgbClr val="215046"/>
      </a:dk2>
      <a:lt2>
        <a:srgbClr val="EAEDE8"/>
      </a:lt2>
      <a:accent1>
        <a:srgbClr val="2F6F62"/>
      </a:accent1>
      <a:accent2>
        <a:srgbClr val="B97F26"/>
      </a:accent2>
      <a:accent3>
        <a:srgbClr val="4B4F55"/>
      </a:accent3>
      <a:accent4>
        <a:srgbClr val="D6D9D0"/>
      </a:accent4>
      <a:accent5>
        <a:srgbClr val="171A1F"/>
      </a:accent5>
      <a:accent6>
        <a:srgbClr val="F1E3CC"/>
      </a:accent6>
      <a:hlink>
        <a:srgbClr val="2F6F62"/>
      </a:hlink>
      <a:folHlink>
        <a:srgbClr val="215046"/>
      </a:folHlink>
    </a:clrScheme>
    <a:fontScheme name="ChurnAnalysis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2026-10-06T05:44:17Z</dcterms:created>
  <dcterms:modified xsi:type="dcterms:W3CDTF">2026-10-06T05:44:17Z</dcterms:modified>
</cp:coreProperties>
</file>